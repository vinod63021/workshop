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embeddedFontLst>
    <p:embeddedFont>
      <p:font typeface="Inter" panose="02000503000000020004" pitchFamily="34" charset="0"/>
      <p:regular r:id="rId12"/>
      <p:bold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B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B1B3F"/>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381760"/>
            <a:ext cx="10566400" cy="4663440"/>
          </a:xfrm>
          <a:prstGeom prst="rect">
            <a:avLst/>
          </a:prstGeom>
          <a:noFill/>
          <a:ln/>
        </p:spPr>
        <p:txBody>
          <a:bodyPr wrap="square" lIns="0" tIns="0" rIns="0" bIns="0" rtlCol="0" anchor="t"/>
          <a:lstStyle>
            <a:lvl1pPr algn="l" indent="0" marL="0">
              <a:lnSpc>
                <a:spcPct val="140000"/>
              </a:lnSpc>
              <a:buNone/>
              <a:defRPr lang="en-US" sz="1600" dirty="0">
                <a:solidFill>
                  <a:srgbClr val="0B1B3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B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0B1B3F"/>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381760"/>
            <a:ext cx="10566400" cy="4663440"/>
          </a:xfrm>
          <a:prstGeom prst="rect">
            <a:avLst/>
          </a:prstGeom>
          <a:noFill/>
          <a:ln/>
        </p:spPr>
        <p:txBody>
          <a:bodyPr wrap="square" lIns="0" tIns="0" rIns="0" bIns="0" rtlCol="0" anchor="t"/>
          <a:lstStyle>
            <a:lvl1pPr algn="l" indent="0" marL="0">
              <a:lnSpc>
                <a:spcPct val="140000"/>
              </a:lnSpc>
              <a:buNone/>
              <a:defRPr lang="en-US" sz="1600" dirty="0">
                <a:solidFill>
                  <a:srgbClr val="0B1B3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BFF"/>
        </a:solidFill>
      </p:bgPr>
    </p:bg>
    <p:spTree>
      <p:nvGrpSpPr>
        <p:cNvPr id="1" name=""/>
        <p:cNvGrpSpPr/>
        <p:nvPr/>
      </p:nvGrpSpPr>
      <p:grpSpPr>
        <a:xfrm>
          <a:off x="0" y="0"/>
          <a:ext cx="0" cy="0"/>
          <a:chOff x="0" y="0"/>
          <a:chExt cx="0" cy="0"/>
        </a:xfrm>
      </p:grpSpPr>
      <p:sp>
        <p:nvSpPr>
          <p:cNvPr id="2" name="Text 0"/>
          <p:cNvSpPr/>
          <p:nvPr/>
        </p:nvSpPr>
        <p:spPr>
          <a:xfrm>
            <a:off x="812800" y="623824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85"/>
                </a:solidFill>
                <a:latin typeface="Inter" pitchFamily="34" charset="0"/>
                <a:ea typeface="Inter" pitchFamily="34" charset="-122"/>
                <a:cs typeface="Inter" pitchFamily="34" charset="-120"/>
              </a:rPr>
              <a:t>Proposed growth plan | NxtWave Growth Intern Challenge</a:t>
            </a:r>
            <a:endParaRPr lang="en-US" sz="1200" dirty="0"/>
          </a:p>
        </p:txBody>
      </p:sp>
      <p:sp>
        <p:nvSpPr>
          <p:cNvPr id="3" name="Text 1"/>
          <p:cNvSpPr/>
          <p:nvPr/>
        </p:nvSpPr>
        <p:spPr>
          <a:xfrm>
            <a:off x="812800" y="6096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BFF"/>
                </a:solidFill>
                <a:latin typeface="Inter" pitchFamily="34" charset="0"/>
                <a:ea typeface="Inter" pitchFamily="34" charset="-122"/>
                <a:cs typeface="Inter" pitchFamily="34" charset="-120"/>
              </a:rPr>
              <a:t>NxtWave Growth Intern Challenge</a:t>
            </a:r>
            <a:endParaRPr lang="en-US" sz="1400" dirty="0"/>
          </a:p>
        </p:txBody>
      </p:sp>
      <p:sp>
        <p:nvSpPr>
          <p:cNvPr id="4" name="Text 2"/>
          <p:cNvSpPr/>
          <p:nvPr>
            <p:ph type="title"/>
          </p:nvPr>
        </p:nvSpPr>
        <p:spPr>
          <a:xfrm>
            <a:off x="812800" y="985520"/>
            <a:ext cx="10883392" cy="55626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0B1B3F"/>
                </a:solidFill>
                <a:latin typeface="Inter" pitchFamily="34" charset="0"/>
                <a:ea typeface="Inter" pitchFamily="34" charset="-122"/>
                <a:cs typeface="Inter" pitchFamily="34" charset="-120"/>
              </a:rPr>
              <a:t>500 Registrations. 7 Days. ₹2,000.</a:t>
            </a:r>
            <a:endParaRPr lang="en-US" sz="3800" dirty="0"/>
          </a:p>
        </p:txBody>
      </p:sp>
      <p:sp>
        <p:nvSpPr>
          <p:cNvPr id="5" name="Text 3"/>
          <p:cNvSpPr/>
          <p:nvPr/>
        </p:nvSpPr>
        <p:spPr>
          <a:xfrm>
            <a:off x="812800" y="164338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5B6785"/>
                </a:solidFill>
                <a:latin typeface="Inter" pitchFamily="34" charset="0"/>
                <a:ea typeface="Inter" pitchFamily="34" charset="-122"/>
                <a:cs typeface="Inter" pitchFamily="34" charset="-120"/>
              </a:rPr>
              <a:t>Build Your First AI Project in 60 Minutes</a:t>
            </a:r>
            <a:endParaRPr lang="en-US" sz="2000" dirty="0"/>
          </a:p>
        </p:txBody>
      </p:sp>
      <p:sp>
        <p:nvSpPr>
          <p:cNvPr id="6" name="Shape 4"/>
          <p:cNvSpPr/>
          <p:nvPr/>
        </p:nvSpPr>
        <p:spPr>
          <a:xfrm>
            <a:off x="812800" y="2965450"/>
            <a:ext cx="3386667" cy="1587500"/>
          </a:xfrm>
          <a:prstGeom prst="roundRect">
            <a:avLst>
              <a:gd name="adj" fmla="val 6400"/>
            </a:avLst>
          </a:prstGeom>
          <a:solidFill>
            <a:srgbClr val="EEF3FF"/>
          </a:solidFill>
          <a:ln/>
        </p:spPr>
      </p:sp>
      <p:sp>
        <p:nvSpPr>
          <p:cNvPr id="7" name="Text 5"/>
          <p:cNvSpPr/>
          <p:nvPr/>
        </p:nvSpPr>
        <p:spPr>
          <a:xfrm>
            <a:off x="1016000" y="3168650"/>
            <a:ext cx="306967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F5BFF"/>
                </a:solidFill>
                <a:latin typeface="Inter" pitchFamily="34" charset="0"/>
                <a:ea typeface="Inter" pitchFamily="34" charset="-122"/>
                <a:cs typeface="Inter" pitchFamily="34" charset="-120"/>
              </a:rPr>
              <a:t>500</a:t>
            </a:r>
            <a:endParaRPr lang="en-US" sz="6000" dirty="0"/>
          </a:p>
        </p:txBody>
      </p:sp>
      <p:sp>
        <p:nvSpPr>
          <p:cNvPr id="8" name="Text 6"/>
          <p:cNvSpPr/>
          <p:nvPr/>
        </p:nvSpPr>
        <p:spPr>
          <a:xfrm>
            <a:off x="1016000" y="4083050"/>
            <a:ext cx="306967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1B3F"/>
                </a:solidFill>
                <a:latin typeface="Inter" pitchFamily="34" charset="0"/>
                <a:ea typeface="Inter" pitchFamily="34" charset="-122"/>
                <a:cs typeface="Inter" pitchFamily="34" charset="-120"/>
              </a:rPr>
              <a:t>student registrations</a:t>
            </a:r>
            <a:endParaRPr lang="en-US" sz="1500" dirty="0"/>
          </a:p>
        </p:txBody>
      </p:sp>
      <p:sp>
        <p:nvSpPr>
          <p:cNvPr id="9" name="Shape 7"/>
          <p:cNvSpPr/>
          <p:nvPr/>
        </p:nvSpPr>
        <p:spPr>
          <a:xfrm>
            <a:off x="4402667" y="2965450"/>
            <a:ext cx="3386667" cy="1587500"/>
          </a:xfrm>
          <a:prstGeom prst="roundRect">
            <a:avLst>
              <a:gd name="adj" fmla="val 6400"/>
            </a:avLst>
          </a:prstGeom>
          <a:solidFill>
            <a:srgbClr val="EEF3FF"/>
          </a:solidFill>
          <a:ln/>
        </p:spPr>
      </p:sp>
      <p:sp>
        <p:nvSpPr>
          <p:cNvPr id="10" name="Text 8"/>
          <p:cNvSpPr/>
          <p:nvPr/>
        </p:nvSpPr>
        <p:spPr>
          <a:xfrm>
            <a:off x="4605867" y="3168650"/>
            <a:ext cx="306967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F5BFF"/>
                </a:solidFill>
                <a:latin typeface="Inter" pitchFamily="34" charset="0"/>
                <a:ea typeface="Inter" pitchFamily="34" charset="-122"/>
                <a:cs typeface="Inter" pitchFamily="34" charset="-120"/>
              </a:rPr>
              <a:t>7</a:t>
            </a:r>
            <a:endParaRPr lang="en-US" sz="6000" dirty="0"/>
          </a:p>
        </p:txBody>
      </p:sp>
      <p:sp>
        <p:nvSpPr>
          <p:cNvPr id="11" name="Text 9"/>
          <p:cNvSpPr/>
          <p:nvPr/>
        </p:nvSpPr>
        <p:spPr>
          <a:xfrm>
            <a:off x="4605867" y="4083050"/>
            <a:ext cx="306967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1B3F"/>
                </a:solidFill>
                <a:latin typeface="Inter" pitchFamily="34" charset="0"/>
                <a:ea typeface="Inter" pitchFamily="34" charset="-122"/>
                <a:cs typeface="Inter" pitchFamily="34" charset="-120"/>
              </a:rPr>
              <a:t>day campaign</a:t>
            </a:r>
            <a:endParaRPr lang="en-US" sz="1500" dirty="0"/>
          </a:p>
        </p:txBody>
      </p:sp>
      <p:sp>
        <p:nvSpPr>
          <p:cNvPr id="12" name="Shape 10"/>
          <p:cNvSpPr/>
          <p:nvPr/>
        </p:nvSpPr>
        <p:spPr>
          <a:xfrm>
            <a:off x="7992533" y="2965450"/>
            <a:ext cx="3386667" cy="1587500"/>
          </a:xfrm>
          <a:prstGeom prst="roundRect">
            <a:avLst>
              <a:gd name="adj" fmla="val 6400"/>
            </a:avLst>
          </a:prstGeom>
          <a:solidFill>
            <a:srgbClr val="EEF3FF"/>
          </a:solidFill>
          <a:ln/>
        </p:spPr>
      </p:sp>
      <p:sp>
        <p:nvSpPr>
          <p:cNvPr id="13" name="Text 11"/>
          <p:cNvSpPr/>
          <p:nvPr/>
        </p:nvSpPr>
        <p:spPr>
          <a:xfrm>
            <a:off x="8195733" y="3168650"/>
            <a:ext cx="3069675"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1F5BFF"/>
                </a:solidFill>
                <a:latin typeface="Inter" pitchFamily="34" charset="0"/>
                <a:ea typeface="Inter" pitchFamily="34" charset="-122"/>
                <a:cs typeface="Inter" pitchFamily="34" charset="-120"/>
              </a:rPr>
              <a:t>₹2,000</a:t>
            </a:r>
            <a:endParaRPr lang="en-US" sz="6000" dirty="0"/>
          </a:p>
        </p:txBody>
      </p:sp>
      <p:sp>
        <p:nvSpPr>
          <p:cNvPr id="14" name="Text 12"/>
          <p:cNvSpPr/>
          <p:nvPr/>
        </p:nvSpPr>
        <p:spPr>
          <a:xfrm>
            <a:off x="8195733" y="4083050"/>
            <a:ext cx="306967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1B3F"/>
                </a:solidFill>
                <a:latin typeface="Inter" pitchFamily="34" charset="0"/>
                <a:ea typeface="Inter" pitchFamily="34" charset="-122"/>
                <a:cs typeface="Inter" pitchFamily="34" charset="-120"/>
              </a:rPr>
              <a:t>total budget</a:t>
            </a:r>
            <a:endParaRPr lang="en-US" sz="1500" dirty="0"/>
          </a:p>
        </p:txBody>
      </p:sp>
      <p:sp>
        <p:nvSpPr>
          <p:cNvPr id="15" name="Text 13"/>
          <p:cNvSpPr/>
          <p:nvPr/>
        </p:nvSpPr>
        <p:spPr>
          <a:xfrm>
            <a:off x="812800" y="5512223"/>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1B3F"/>
                </a:solidFill>
                <a:latin typeface="Inter" pitchFamily="34" charset="0"/>
                <a:ea typeface="Inter" pitchFamily="34" charset="-122"/>
                <a:cs typeface="Inter" pitchFamily="34" charset="-120"/>
              </a:rPr>
              <a:t>Turn trusted campus networks into a measurable student acquisition engine.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1B3F"/>
                </a:solidFill>
                <a:latin typeface="Inter" pitchFamily="34" charset="0"/>
                <a:ea typeface="Inter" pitchFamily="34" charset="-122"/>
                <a:cs typeface="Inter" pitchFamily="34" charset="-120"/>
              </a:rPr>
              <a:t>Start With Student Motivation</a:t>
            </a:r>
            <a:endParaRPr lang="en-US" sz="3200" dirty="0"/>
          </a:p>
        </p:txBody>
      </p:sp>
      <p:sp>
        <p:nvSpPr>
          <p:cNvPr id="3" name="Shape 1"/>
          <p:cNvSpPr/>
          <p:nvPr/>
        </p:nvSpPr>
        <p:spPr>
          <a:xfrm>
            <a:off x="812800" y="1330960"/>
            <a:ext cx="10566400" cy="1275080"/>
          </a:xfrm>
          <a:prstGeom prst="roundRect">
            <a:avLst>
              <a:gd name="adj" fmla="val 7968"/>
            </a:avLst>
          </a:prstGeom>
          <a:solidFill>
            <a:srgbClr val="0B1B3F"/>
          </a:solidFill>
          <a:ln/>
        </p:spPr>
      </p:sp>
      <p:sp>
        <p:nvSpPr>
          <p:cNvPr id="4" name="Text 2"/>
          <p:cNvSpPr/>
          <p:nvPr/>
        </p:nvSpPr>
        <p:spPr>
          <a:xfrm>
            <a:off x="1066800" y="1534160"/>
            <a:ext cx="1036015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nter" pitchFamily="34" charset="0"/>
                <a:ea typeface="Inter" pitchFamily="34" charset="-122"/>
                <a:cs typeface="Inter" pitchFamily="34" charset="-120"/>
              </a:rPr>
              <a:t>PERSONA (PLANNING HYPOTHESIS, NOT VALIDATED RESEARCH)</a:t>
            </a:r>
            <a:endParaRPr lang="en-US" sz="1200" dirty="0"/>
          </a:p>
        </p:txBody>
      </p:sp>
      <p:sp>
        <p:nvSpPr>
          <p:cNvPr id="5" name="Text 3"/>
          <p:cNvSpPr/>
          <p:nvPr/>
        </p:nvSpPr>
        <p:spPr>
          <a:xfrm>
            <a:off x="1066800" y="1798320"/>
            <a:ext cx="10360152" cy="6299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AFBFF"/>
                </a:solidFill>
                <a:latin typeface="Inter" pitchFamily="34" charset="0"/>
                <a:ea typeface="Inter" pitchFamily="34" charset="-122"/>
                <a:cs typeface="Inter" pitchFamily="34" charset="-120"/>
              </a:rPr>
              <a:t>Final-year engineering student who wants practical AI experience but needs a clear starting point.</a:t>
            </a:r>
            <a:endParaRPr lang="en-US" sz="1700" dirty="0"/>
          </a:p>
        </p:txBody>
      </p:sp>
      <p:sp>
        <p:nvSpPr>
          <p:cNvPr id="6" name="Shape 4"/>
          <p:cNvSpPr/>
          <p:nvPr/>
        </p:nvSpPr>
        <p:spPr>
          <a:xfrm>
            <a:off x="812800" y="2860040"/>
            <a:ext cx="3386667" cy="1259840"/>
          </a:xfrm>
          <a:prstGeom prst="roundRect">
            <a:avLst>
              <a:gd name="adj" fmla="val 8065"/>
            </a:avLst>
          </a:prstGeom>
          <a:solidFill>
            <a:srgbClr val="EEF3FF"/>
          </a:solidFill>
          <a:ln/>
        </p:spPr>
      </p:sp>
      <p:sp>
        <p:nvSpPr>
          <p:cNvPr id="7" name="Text 5"/>
          <p:cNvSpPr/>
          <p:nvPr/>
        </p:nvSpPr>
        <p:spPr>
          <a:xfrm>
            <a:off x="1016000" y="3063240"/>
            <a:ext cx="30696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5BFF"/>
                </a:solidFill>
                <a:latin typeface="Inter" pitchFamily="34" charset="0"/>
                <a:ea typeface="Inter" pitchFamily="34" charset="-122"/>
                <a:cs typeface="Inter" pitchFamily="34" charset="-120"/>
              </a:rPr>
              <a:t>Goal</a:t>
            </a:r>
            <a:endParaRPr lang="en-US" sz="1600" dirty="0"/>
          </a:p>
        </p:txBody>
      </p:sp>
      <p:sp>
        <p:nvSpPr>
          <p:cNvPr id="8" name="Text 6"/>
          <p:cNvSpPr/>
          <p:nvPr/>
        </p:nvSpPr>
        <p:spPr>
          <a:xfrm>
            <a:off x="1016000" y="3383280"/>
            <a:ext cx="306967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1B3F"/>
                </a:solidFill>
                <a:latin typeface="Inter" pitchFamily="34" charset="0"/>
                <a:ea typeface="Inter" pitchFamily="34" charset="-122"/>
                <a:cs typeface="Inter" pitchFamily="34" charset="-120"/>
              </a:rPr>
              <a:t>Build a first AI project</a:t>
            </a:r>
            <a:endParaRPr lang="en-US" sz="1500" dirty="0"/>
          </a:p>
        </p:txBody>
      </p:sp>
      <p:sp>
        <p:nvSpPr>
          <p:cNvPr id="9" name="Shape 7"/>
          <p:cNvSpPr/>
          <p:nvPr/>
        </p:nvSpPr>
        <p:spPr>
          <a:xfrm>
            <a:off x="4402667" y="2860040"/>
            <a:ext cx="3386667" cy="1259840"/>
          </a:xfrm>
          <a:prstGeom prst="roundRect">
            <a:avLst>
              <a:gd name="adj" fmla="val 8065"/>
            </a:avLst>
          </a:prstGeom>
          <a:solidFill>
            <a:srgbClr val="EEF3FF"/>
          </a:solidFill>
          <a:ln/>
        </p:spPr>
      </p:sp>
      <p:sp>
        <p:nvSpPr>
          <p:cNvPr id="10" name="Text 8"/>
          <p:cNvSpPr/>
          <p:nvPr/>
        </p:nvSpPr>
        <p:spPr>
          <a:xfrm>
            <a:off x="4605867" y="3063240"/>
            <a:ext cx="30696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5BFF"/>
                </a:solidFill>
                <a:latin typeface="Inter" pitchFamily="34" charset="0"/>
                <a:ea typeface="Inter" pitchFamily="34" charset="-122"/>
                <a:cs typeface="Inter" pitchFamily="34" charset="-120"/>
              </a:rPr>
              <a:t>Barrier</a:t>
            </a:r>
            <a:endParaRPr lang="en-US" sz="1600" dirty="0"/>
          </a:p>
        </p:txBody>
      </p:sp>
      <p:sp>
        <p:nvSpPr>
          <p:cNvPr id="11" name="Text 9"/>
          <p:cNvSpPr/>
          <p:nvPr/>
        </p:nvSpPr>
        <p:spPr>
          <a:xfrm>
            <a:off x="4605867" y="3383280"/>
            <a:ext cx="30696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1B3F"/>
                </a:solidFill>
                <a:latin typeface="Inter" pitchFamily="34" charset="0"/>
                <a:ea typeface="Inter" pitchFamily="34" charset="-122"/>
                <a:cs typeface="Inter" pitchFamily="34" charset="-120"/>
              </a:rPr>
              <a:t>Unsure where to start; worried AI needs advanced skills</a:t>
            </a:r>
            <a:endParaRPr lang="en-US" sz="1500" dirty="0"/>
          </a:p>
        </p:txBody>
      </p:sp>
      <p:sp>
        <p:nvSpPr>
          <p:cNvPr id="12" name="Shape 10"/>
          <p:cNvSpPr/>
          <p:nvPr/>
        </p:nvSpPr>
        <p:spPr>
          <a:xfrm>
            <a:off x="7992533" y="2860040"/>
            <a:ext cx="3386667" cy="1259840"/>
          </a:xfrm>
          <a:prstGeom prst="roundRect">
            <a:avLst>
              <a:gd name="adj" fmla="val 8065"/>
            </a:avLst>
          </a:prstGeom>
          <a:solidFill>
            <a:srgbClr val="EEF3FF"/>
          </a:solidFill>
          <a:ln/>
        </p:spPr>
      </p:sp>
      <p:sp>
        <p:nvSpPr>
          <p:cNvPr id="13" name="Text 11"/>
          <p:cNvSpPr/>
          <p:nvPr/>
        </p:nvSpPr>
        <p:spPr>
          <a:xfrm>
            <a:off x="8195733" y="3063240"/>
            <a:ext cx="30696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5BFF"/>
                </a:solidFill>
                <a:latin typeface="Inter" pitchFamily="34" charset="0"/>
                <a:ea typeface="Inter" pitchFamily="34" charset="-122"/>
                <a:cs typeface="Inter" pitchFamily="34" charset="-120"/>
              </a:rPr>
              <a:t>Trigger</a:t>
            </a:r>
            <a:endParaRPr lang="en-US" sz="1600" dirty="0"/>
          </a:p>
        </p:txBody>
      </p:sp>
      <p:sp>
        <p:nvSpPr>
          <p:cNvPr id="14" name="Text 12"/>
          <p:cNvSpPr/>
          <p:nvPr/>
        </p:nvSpPr>
        <p:spPr>
          <a:xfrm>
            <a:off x="8195733" y="3383280"/>
            <a:ext cx="306967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B1B3F"/>
                </a:solidFill>
                <a:latin typeface="Inter" pitchFamily="34" charset="0"/>
                <a:ea typeface="Inter" pitchFamily="34" charset="-122"/>
                <a:cs typeface="Inter" pitchFamily="34" charset="-120"/>
              </a:rPr>
              <a:t>Free, beginner-friendly, 60-minute hands-on workshop</a:t>
            </a:r>
            <a:endParaRPr lang="en-US" sz="1500" dirty="0"/>
          </a:p>
        </p:txBody>
      </p:sp>
      <p:sp>
        <p:nvSpPr>
          <p:cNvPr id="15" name="Text 13"/>
          <p:cNvSpPr/>
          <p:nvPr/>
        </p:nvSpPr>
        <p:spPr>
          <a:xfrm>
            <a:off x="819150" y="4380230"/>
            <a:ext cx="1532678" cy="530860"/>
          </a:xfrm>
          <a:prstGeom prst="roundRect">
            <a:avLst>
              <a:gd name="adj" fmla="val 50000"/>
            </a:avLst>
          </a:prstGeom>
          <a:solidFill>
            <a:srgbClr val="FFFFFF"/>
          </a:solidFill>
          <a:ln w="12700">
            <a:solidFill>
              <a:srgbClr val="1F5BFF"/>
            </a:solidFill>
            <a:prstDash val="solid"/>
          </a:ln>
        </p:spPr>
        <p:txBody>
          <a:bodyPr wrap="none" lIns="0" tIns="0" rIns="0" bIns="0" rtlCol="0" anchor="ctr">
            <a:normAutofit/>
          </a:bodyPr>
          <a:lstStyle/>
          <a:p>
            <a:pPr algn="ctr" indent="0" marL="0">
              <a:lnSpc>
                <a:spcPts val="2520"/>
              </a:lnSpc>
              <a:buNone/>
            </a:pPr>
            <a:r>
              <a:rPr lang="en-US" sz="1800" b="1" dirty="0">
                <a:solidFill>
                  <a:srgbClr val="0B1B3F"/>
                </a:solidFill>
                <a:latin typeface="Inter" pitchFamily="34" charset="0"/>
                <a:ea typeface="Inter" pitchFamily="34" charset="-122"/>
                <a:cs typeface="Inter" pitchFamily="34" charset="-120"/>
              </a:rPr>
              <a:t>Curiosity</a:t>
            </a:r>
            <a:endParaRPr lang="en-US" sz="1800" dirty="0"/>
          </a:p>
        </p:txBody>
      </p:sp>
      <p:sp>
        <p:nvSpPr>
          <p:cNvPr id="16" name="Text 14"/>
          <p:cNvSpPr/>
          <p:nvPr/>
        </p:nvSpPr>
        <p:spPr>
          <a:xfrm>
            <a:off x="3493029" y="4485640"/>
            <a:ext cx="2794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5BFF"/>
                </a:solidFill>
                <a:latin typeface="Inter" pitchFamily="34" charset="0"/>
                <a:ea typeface="Inter" pitchFamily="34" charset="-122"/>
                <a:cs typeface="Inter" pitchFamily="34" charset="-120"/>
              </a:rPr>
              <a:t>→</a:t>
            </a:r>
            <a:endParaRPr lang="en-US" sz="1800" dirty="0"/>
          </a:p>
        </p:txBody>
      </p:sp>
      <p:sp>
        <p:nvSpPr>
          <p:cNvPr id="17" name="Text 15"/>
          <p:cNvSpPr/>
          <p:nvPr/>
        </p:nvSpPr>
        <p:spPr>
          <a:xfrm>
            <a:off x="4862830" y="4380230"/>
            <a:ext cx="2158365" cy="530860"/>
          </a:xfrm>
          <a:prstGeom prst="roundRect">
            <a:avLst>
              <a:gd name="adj" fmla="val 50000"/>
            </a:avLst>
          </a:prstGeom>
          <a:solidFill>
            <a:srgbClr val="FFFFFF"/>
          </a:solidFill>
          <a:ln w="12700">
            <a:solidFill>
              <a:srgbClr val="1F5BFF"/>
            </a:solidFill>
            <a:prstDash val="solid"/>
          </a:ln>
        </p:spPr>
        <p:txBody>
          <a:bodyPr wrap="none" lIns="0" tIns="0" rIns="0" bIns="0" rtlCol="0" anchor="ctr">
            <a:normAutofit/>
          </a:bodyPr>
          <a:lstStyle/>
          <a:p>
            <a:pPr algn="ctr" indent="0" marL="0">
              <a:lnSpc>
                <a:spcPts val="2520"/>
              </a:lnSpc>
              <a:buNone/>
            </a:pPr>
            <a:r>
              <a:rPr lang="en-US" sz="1800" b="1" dirty="0">
                <a:solidFill>
                  <a:srgbClr val="0B1B3F"/>
                </a:solidFill>
                <a:latin typeface="Inter" pitchFamily="34" charset="0"/>
                <a:ea typeface="Inter" pitchFamily="34" charset="-122"/>
                <a:cs typeface="Inter" pitchFamily="34" charset="-120"/>
              </a:rPr>
              <a:t>Clear first step</a:t>
            </a:r>
            <a:endParaRPr lang="en-US" sz="1800" dirty="0"/>
          </a:p>
        </p:txBody>
      </p:sp>
      <p:sp>
        <p:nvSpPr>
          <p:cNvPr id="18" name="Text 16"/>
          <p:cNvSpPr/>
          <p:nvPr/>
        </p:nvSpPr>
        <p:spPr>
          <a:xfrm>
            <a:off x="8162396" y="4485640"/>
            <a:ext cx="2794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5BFF"/>
                </a:solidFill>
                <a:latin typeface="Inter" pitchFamily="34" charset="0"/>
                <a:ea typeface="Inter" pitchFamily="34" charset="-122"/>
                <a:cs typeface="Inter" pitchFamily="34" charset="-120"/>
              </a:rPr>
              <a:t>→</a:t>
            </a:r>
            <a:endParaRPr lang="en-US" sz="1800" dirty="0"/>
          </a:p>
        </p:txBody>
      </p:sp>
      <p:sp>
        <p:nvSpPr>
          <p:cNvPr id="19" name="Text 17"/>
          <p:cNvSpPr/>
          <p:nvPr/>
        </p:nvSpPr>
        <p:spPr>
          <a:xfrm>
            <a:off x="9525846" y="4384040"/>
            <a:ext cx="1853353" cy="523240"/>
          </a:xfrm>
          <a:prstGeom prst="roundRect">
            <a:avLst>
              <a:gd name="adj" fmla="val 50000"/>
            </a:avLst>
          </a:prstGeom>
          <a:solidFill>
            <a:srgbClr val="1F5BFF"/>
          </a:solidFill>
          <a:ln/>
        </p:spPr>
        <p:txBody>
          <a:bodyPr wrap="none" lIns="0" tIns="0" rIns="0" bIns="0" rtlCol="0" anchor="ctr">
            <a:normAutofit/>
          </a:bodyPr>
          <a:lstStyle/>
          <a:p>
            <a:pPr algn="ctr" indent="0" marL="0">
              <a:lnSpc>
                <a:spcPts val="2520"/>
              </a:lnSpc>
              <a:buNone/>
            </a:pPr>
            <a:r>
              <a:rPr lang="en-US" sz="1800" b="1" dirty="0">
                <a:solidFill>
                  <a:srgbClr val="FFFFFF"/>
                </a:solidFill>
                <a:latin typeface="Inter" pitchFamily="34" charset="0"/>
                <a:ea typeface="Inter" pitchFamily="34" charset="-122"/>
                <a:cs typeface="Inter" pitchFamily="34" charset="-120"/>
              </a:rPr>
              <a:t>Registration</a:t>
            </a:r>
            <a:endParaRPr lang="en-US" sz="1800" dirty="0"/>
          </a:p>
        </p:txBody>
      </p:sp>
      <p:sp>
        <p:nvSpPr>
          <p:cNvPr id="20" name="Text 18"/>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85"/>
                </a:solidFill>
                <a:latin typeface="Inter" pitchFamily="34" charset="0"/>
                <a:ea typeface="Inter" pitchFamily="34" charset="-122"/>
                <a:cs typeface="Inter" pitchFamily="34" charset="-120"/>
              </a:rPr>
              <a:t>Proposed growth plan | NxtWave Growth Intern Challenge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82600"/>
          </a:xfrm>
          <a:prstGeom prst="rect">
            <a:avLst/>
          </a:prstGeom>
          <a:noFill/>
          <a:ln/>
        </p:spPr>
        <p:txBody>
          <a:bodyPr wrap="square" lIns="0" tIns="0" rIns="0" bIns="0" rtlCol="0" anchor="t">
            <a:normAutofit/>
          </a:bodyPr>
          <a:lstStyle/>
          <a:p>
            <a:pPr algn="l" indent="0" marL="0">
              <a:lnSpc>
                <a:spcPts val="3622"/>
              </a:lnSpc>
              <a:buNone/>
            </a:pPr>
            <a:r>
              <a:rPr lang="en-US" sz="3150" b="1" i="0" dirty="0">
                <a:solidFill>
                  <a:srgbClr val="0B1B3F"/>
                </a:solidFill>
                <a:latin typeface="Inter" pitchFamily="34" charset="0"/>
                <a:ea typeface="Inter" pitchFamily="34" charset="-122"/>
                <a:cs typeface="Inter" pitchFamily="34" charset="-120"/>
              </a:rPr>
              <a:t>Three Channels. One Measurable System.</a:t>
            </a:r>
            <a:endParaRPr lang="en-US" sz="3150" dirty="0"/>
          </a:p>
        </p:txBody>
      </p:sp>
      <p:sp>
        <p:nvSpPr>
          <p:cNvPr id="3" name="Shape 1"/>
          <p:cNvSpPr/>
          <p:nvPr/>
        </p:nvSpPr>
        <p:spPr>
          <a:xfrm>
            <a:off x="812800" y="1320800"/>
            <a:ext cx="3386667" cy="1794192"/>
          </a:xfrm>
          <a:prstGeom prst="roundRect">
            <a:avLst>
              <a:gd name="adj" fmla="val 5663"/>
            </a:avLst>
          </a:prstGeom>
          <a:solidFill>
            <a:srgbClr val="EEF3FF"/>
          </a:solidFill>
          <a:ln/>
        </p:spPr>
      </p:sp>
      <p:sp>
        <p:nvSpPr>
          <p:cNvPr id="4" name="Text 2"/>
          <p:cNvSpPr/>
          <p:nvPr/>
        </p:nvSpPr>
        <p:spPr>
          <a:xfrm>
            <a:off x="1016000" y="1524000"/>
            <a:ext cx="30696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F"/>
                </a:solidFill>
                <a:latin typeface="Inter" pitchFamily="34" charset="0"/>
                <a:ea typeface="Inter" pitchFamily="34" charset="-122"/>
                <a:cs typeface="Inter" pitchFamily="34" charset="-120"/>
              </a:rPr>
              <a:t>A. Campus ambassadors</a:t>
            </a:r>
            <a:endParaRPr lang="en-US" sz="1600" dirty="0"/>
          </a:p>
        </p:txBody>
      </p:sp>
      <p:sp>
        <p:nvSpPr>
          <p:cNvPr id="5" name="Text 3"/>
          <p:cNvSpPr/>
          <p:nvPr/>
        </p:nvSpPr>
        <p:spPr>
          <a:xfrm>
            <a:off x="1016000" y="1844039"/>
            <a:ext cx="306967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785"/>
                </a:solidFill>
                <a:latin typeface="Inter" pitchFamily="34" charset="0"/>
                <a:ea typeface="Inter" pitchFamily="34" charset="-122"/>
                <a:cs typeface="Inter" pitchFamily="34" charset="-120"/>
              </a:rPr>
              <a:t>30 ambassadors across 15 colleges</a:t>
            </a:r>
            <a:endParaRPr lang="en-US" sz="1300" dirty="0"/>
          </a:p>
        </p:txBody>
      </p:sp>
      <p:sp>
        <p:nvSpPr>
          <p:cNvPr id="6" name="Text 4"/>
          <p:cNvSpPr/>
          <p:nvPr/>
        </p:nvSpPr>
        <p:spPr>
          <a:xfrm>
            <a:off x="1016000" y="2151380"/>
            <a:ext cx="3069675"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F5BFF"/>
                </a:solidFill>
                <a:latin typeface="Inter" pitchFamily="34" charset="0"/>
                <a:ea typeface="Inter" pitchFamily="34" charset="-122"/>
                <a:cs typeface="Inter" pitchFamily="34" charset="-120"/>
              </a:rPr>
              <a:t>450</a:t>
            </a:r>
            <a:endParaRPr lang="en-US" sz="3200" dirty="0"/>
          </a:p>
        </p:txBody>
      </p:sp>
      <p:sp>
        <p:nvSpPr>
          <p:cNvPr id="7" name="Shape 5"/>
          <p:cNvSpPr/>
          <p:nvPr/>
        </p:nvSpPr>
        <p:spPr>
          <a:xfrm>
            <a:off x="4402667" y="1320800"/>
            <a:ext cx="3386667" cy="1794192"/>
          </a:xfrm>
          <a:prstGeom prst="roundRect">
            <a:avLst>
              <a:gd name="adj" fmla="val 5663"/>
            </a:avLst>
          </a:prstGeom>
          <a:solidFill>
            <a:srgbClr val="EEF3FF"/>
          </a:solidFill>
          <a:ln/>
        </p:spPr>
      </p:sp>
      <p:sp>
        <p:nvSpPr>
          <p:cNvPr id="8" name="Text 6"/>
          <p:cNvSpPr/>
          <p:nvPr/>
        </p:nvSpPr>
        <p:spPr>
          <a:xfrm>
            <a:off x="4605867" y="1524000"/>
            <a:ext cx="3069675" cy="261620"/>
          </a:xfrm>
          <a:prstGeom prst="rect">
            <a:avLst/>
          </a:prstGeom>
          <a:noFill/>
          <a:ln/>
        </p:spPr>
        <p:txBody>
          <a:bodyPr wrap="square" lIns="0" tIns="0" rIns="0" bIns="0" rtlCol="0" anchor="t">
            <a:normAutofit/>
          </a:bodyPr>
          <a:lstStyle/>
          <a:p>
            <a:pPr algn="l" indent="0" marL="0">
              <a:lnSpc>
                <a:spcPts val="1872"/>
              </a:lnSpc>
              <a:buNone/>
            </a:pPr>
            <a:r>
              <a:rPr lang="en-US" sz="1560" b="1" dirty="0">
                <a:solidFill>
                  <a:srgbClr val="0B1B3F"/>
                </a:solidFill>
                <a:latin typeface="Inter" pitchFamily="34" charset="0"/>
                <a:ea typeface="Inter" pitchFamily="34" charset="-122"/>
                <a:cs typeface="Inter" pitchFamily="34" charset="-120"/>
              </a:rPr>
              <a:t>B. College communities</a:t>
            </a:r>
            <a:endParaRPr lang="en-US" sz="1560" dirty="0"/>
          </a:p>
        </p:txBody>
      </p:sp>
      <p:sp>
        <p:nvSpPr>
          <p:cNvPr id="9" name="Text 7"/>
          <p:cNvSpPr/>
          <p:nvPr/>
        </p:nvSpPr>
        <p:spPr>
          <a:xfrm>
            <a:off x="4605867" y="1836420"/>
            <a:ext cx="3069675" cy="473287"/>
          </a:xfrm>
          <a:prstGeom prst="rect">
            <a:avLst/>
          </a:prstGeom>
          <a:noFill/>
          <a:ln/>
        </p:spPr>
        <p:txBody>
          <a:bodyPr wrap="square" lIns="0" tIns="0" rIns="0" bIns="0" rtlCol="0" anchor="t">
            <a:normAutofit/>
          </a:bodyPr>
          <a:lstStyle/>
          <a:p>
            <a:pPr algn="l" indent="0" marL="0">
              <a:lnSpc>
                <a:spcPts val="1786"/>
              </a:lnSpc>
              <a:buNone/>
            </a:pPr>
            <a:r>
              <a:rPr lang="en-US" sz="1276" dirty="0">
                <a:solidFill>
                  <a:srgbClr val="5B6785"/>
                </a:solidFill>
                <a:latin typeface="Inter" pitchFamily="34" charset="0"/>
                <a:ea typeface="Inter" pitchFamily="34" charset="-122"/>
                <a:cs typeface="Inter" pitchFamily="34" charset="-120"/>
              </a:rPr>
              <a:t>WhatsApp groups, coding clubs, placement communities</a:t>
            </a:r>
            <a:endParaRPr lang="en-US" sz="1276" dirty="0"/>
          </a:p>
        </p:txBody>
      </p:sp>
      <p:sp>
        <p:nvSpPr>
          <p:cNvPr id="10" name="Text 8"/>
          <p:cNvSpPr/>
          <p:nvPr/>
        </p:nvSpPr>
        <p:spPr>
          <a:xfrm>
            <a:off x="4605867" y="2360507"/>
            <a:ext cx="3069675" cy="576686"/>
          </a:xfrm>
          <a:prstGeom prst="rect">
            <a:avLst/>
          </a:prstGeom>
          <a:noFill/>
          <a:ln/>
        </p:spPr>
        <p:txBody>
          <a:bodyPr wrap="square" lIns="0" tIns="0" rIns="0" bIns="0" rtlCol="0" anchor="t">
            <a:normAutofit/>
          </a:bodyPr>
          <a:lstStyle/>
          <a:p>
            <a:pPr algn="l" indent="0" marL="0">
              <a:lnSpc>
                <a:spcPts val="4368"/>
              </a:lnSpc>
              <a:buNone/>
            </a:pPr>
            <a:r>
              <a:rPr lang="en-US" sz="3120" b="1" dirty="0">
                <a:solidFill>
                  <a:srgbClr val="1F5BFF"/>
                </a:solidFill>
                <a:latin typeface="Inter" pitchFamily="34" charset="0"/>
                <a:ea typeface="Inter" pitchFamily="34" charset="-122"/>
                <a:cs typeface="Inter" pitchFamily="34" charset="-120"/>
              </a:rPr>
              <a:t>+30</a:t>
            </a:r>
            <a:endParaRPr lang="en-US" sz="3120" dirty="0"/>
          </a:p>
        </p:txBody>
      </p:sp>
      <p:sp>
        <p:nvSpPr>
          <p:cNvPr id="11" name="Shape 9"/>
          <p:cNvSpPr/>
          <p:nvPr/>
        </p:nvSpPr>
        <p:spPr>
          <a:xfrm>
            <a:off x="7992533" y="1320800"/>
            <a:ext cx="3386667" cy="1794192"/>
          </a:xfrm>
          <a:prstGeom prst="roundRect">
            <a:avLst>
              <a:gd name="adj" fmla="val 5663"/>
            </a:avLst>
          </a:prstGeom>
          <a:solidFill>
            <a:srgbClr val="EEF3FF"/>
          </a:solidFill>
          <a:ln/>
        </p:spPr>
      </p:sp>
      <p:sp>
        <p:nvSpPr>
          <p:cNvPr id="12" name="Text 10"/>
          <p:cNvSpPr/>
          <p:nvPr/>
        </p:nvSpPr>
        <p:spPr>
          <a:xfrm>
            <a:off x="8195733" y="1524000"/>
            <a:ext cx="30696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F"/>
                </a:solidFill>
                <a:latin typeface="Inter" pitchFamily="34" charset="0"/>
                <a:ea typeface="Inter" pitchFamily="34" charset="-122"/>
                <a:cs typeface="Inter" pitchFamily="34" charset="-120"/>
              </a:rPr>
              <a:t>C. Student creators</a:t>
            </a:r>
            <a:endParaRPr lang="en-US" sz="1600" dirty="0"/>
          </a:p>
        </p:txBody>
      </p:sp>
      <p:sp>
        <p:nvSpPr>
          <p:cNvPr id="13" name="Text 11"/>
          <p:cNvSpPr/>
          <p:nvPr/>
        </p:nvSpPr>
        <p:spPr>
          <a:xfrm>
            <a:off x="8195733" y="1844039"/>
            <a:ext cx="306967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785"/>
                </a:solidFill>
                <a:latin typeface="Inter" pitchFamily="34" charset="0"/>
                <a:ea typeface="Inter" pitchFamily="34" charset="-122"/>
                <a:cs typeface="Inter" pitchFamily="34" charset="-120"/>
              </a:rPr>
              <a:t>Tech creators and campus leaders</a:t>
            </a:r>
            <a:endParaRPr lang="en-US" sz="1300" dirty="0"/>
          </a:p>
        </p:txBody>
      </p:sp>
      <p:sp>
        <p:nvSpPr>
          <p:cNvPr id="14" name="Text 12"/>
          <p:cNvSpPr/>
          <p:nvPr/>
        </p:nvSpPr>
        <p:spPr>
          <a:xfrm>
            <a:off x="8195733" y="2151380"/>
            <a:ext cx="3069675"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F5BFF"/>
                </a:solidFill>
                <a:latin typeface="Inter" pitchFamily="34" charset="0"/>
                <a:ea typeface="Inter" pitchFamily="34" charset="-122"/>
                <a:cs typeface="Inter" pitchFamily="34" charset="-120"/>
              </a:rPr>
              <a:t>+20</a:t>
            </a:r>
            <a:endParaRPr lang="en-US" sz="3200" dirty="0"/>
          </a:p>
        </p:txBody>
      </p:sp>
      <p:sp>
        <p:nvSpPr>
          <p:cNvPr id="15" name="Text 13"/>
          <p:cNvSpPr/>
          <p:nvPr/>
        </p:nvSpPr>
        <p:spPr>
          <a:xfrm>
            <a:off x="654304" y="3368993"/>
            <a:ext cx="10883392" cy="442913"/>
          </a:xfrm>
          <a:prstGeom prst="rect">
            <a:avLst/>
          </a:prstGeom>
          <a:noFill/>
          <a:ln/>
        </p:spPr>
        <p:txBody>
          <a:bodyPr wrap="square" lIns="0" tIns="0" rIns="0" bIns="0" rtlCol="0" anchor="t">
            <a:normAutofit/>
          </a:bodyPr>
          <a:lstStyle/>
          <a:p>
            <a:pPr algn="ctr" indent="0" marL="0">
              <a:lnSpc>
                <a:spcPts val="3318"/>
              </a:lnSpc>
              <a:buNone/>
            </a:pPr>
            <a:r>
              <a:rPr lang="en-US" sz="2370" b="1" dirty="0">
                <a:solidFill>
                  <a:srgbClr val="1F5BFF"/>
                </a:solidFill>
                <a:latin typeface="Inter" pitchFamily="34" charset="0"/>
                <a:ea typeface="Inter" pitchFamily="34" charset="-122"/>
                <a:cs typeface="Inter" pitchFamily="34" charset="-120"/>
              </a:rPr>
              <a:t>↓</a:t>
            </a:r>
            <a:endParaRPr lang="en-US" sz="2370" dirty="0"/>
          </a:p>
        </p:txBody>
      </p:sp>
      <p:sp>
        <p:nvSpPr>
          <p:cNvPr id="16" name="Text 14"/>
          <p:cNvSpPr/>
          <p:nvPr/>
        </p:nvSpPr>
        <p:spPr>
          <a:xfrm>
            <a:off x="812800" y="4040505"/>
            <a:ext cx="10566400" cy="719455"/>
          </a:xfrm>
          <a:prstGeom prst="roundRect">
            <a:avLst>
              <a:gd name="adj" fmla="val 14122"/>
            </a:avLst>
          </a:prstGeom>
          <a:solidFill>
            <a:srgbClr val="0B1B3F"/>
          </a:solidFill>
          <a:ln/>
        </p:spPr>
        <p:txBody>
          <a:bodyPr wrap="square" lIns="21042" tIns="173442" rIns="21042" bIns="148042" rtlCol="0" anchor="t">
            <a:normAutofit/>
          </a:bodyPr>
          <a:lstStyle/>
          <a:p>
            <a:pPr algn="ctr" indent="0" marL="0">
              <a:lnSpc>
                <a:spcPts val="2473"/>
              </a:lnSpc>
              <a:buNone/>
            </a:pPr>
            <a:r>
              <a:rPr lang="en-US" sz="1766" b="1" dirty="0">
                <a:solidFill>
                  <a:srgbClr val="FAFBFF"/>
                </a:solidFill>
                <a:latin typeface="Inter" pitchFamily="34" charset="0"/>
                <a:ea typeface="Inter" pitchFamily="34" charset="-122"/>
                <a:cs typeface="Inter" pitchFamily="34" charset="-120"/>
              </a:rPr>
              <a:t>Workshop Registration + Unique Referral Tracking</a:t>
            </a:r>
            <a:endParaRPr lang="en-US" sz="1766" dirty="0"/>
          </a:p>
        </p:txBody>
      </p:sp>
      <p:sp>
        <p:nvSpPr>
          <p:cNvPr id="17" name="Text 15"/>
          <p:cNvSpPr/>
          <p:nvPr/>
        </p:nvSpPr>
        <p:spPr>
          <a:xfrm>
            <a:off x="654304" y="5013961"/>
            <a:ext cx="10883392" cy="373274"/>
          </a:xfrm>
          <a:prstGeom prst="rect">
            <a:avLst/>
          </a:prstGeom>
          <a:noFill/>
          <a:ln/>
        </p:spPr>
        <p:txBody>
          <a:bodyPr wrap="square" lIns="0" tIns="0" rIns="0" bIns="0" rtlCol="0" anchor="t">
            <a:normAutofit/>
          </a:bodyPr>
          <a:lstStyle/>
          <a:p>
            <a:pPr algn="ctr" indent="0" marL="0">
              <a:lnSpc>
                <a:spcPts val="2774"/>
              </a:lnSpc>
              <a:buNone/>
            </a:pPr>
            <a:r>
              <a:rPr lang="en-US" sz="1981" b="1" dirty="0">
                <a:solidFill>
                  <a:srgbClr val="0B1B3F"/>
                </a:solidFill>
                <a:latin typeface="Inter" pitchFamily="34" charset="0"/>
                <a:ea typeface="Inter" pitchFamily="34" charset="-122"/>
                <a:cs typeface="Inter" pitchFamily="34" charset="-120"/>
              </a:rPr>
              <a:t>500 proposed unique registrations</a:t>
            </a:r>
            <a:endParaRPr lang="en-US" sz="1981" dirty="0"/>
          </a:p>
        </p:txBody>
      </p:sp>
      <p:sp>
        <p:nvSpPr>
          <p:cNvPr id="18" name="Text 16"/>
          <p:cNvSpPr/>
          <p:nvPr/>
        </p:nvSpPr>
        <p:spPr>
          <a:xfrm>
            <a:off x="654304" y="5615834"/>
            <a:ext cx="10883392" cy="251566"/>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B6785"/>
                </a:solidFill>
                <a:latin typeface="Inter" pitchFamily="34" charset="0"/>
                <a:ea typeface="Inter" pitchFamily="34" charset="-122"/>
                <a:cs typeface="Inter" pitchFamily="34" charset="-120"/>
              </a:rPr>
              <a:t>Targets are planning assumptions to validate. Duplicates across channels will be removed.</a:t>
            </a:r>
            <a:endParaRPr lang="en-US" sz="1300" dirty="0"/>
          </a:p>
        </p:txBody>
      </p:sp>
      <p:sp>
        <p:nvSpPr>
          <p:cNvPr id="19" name="Text 17"/>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85"/>
                </a:solidFill>
                <a:latin typeface="Inter" pitchFamily="34" charset="0"/>
                <a:ea typeface="Inter" pitchFamily="34" charset="-122"/>
                <a:cs typeface="Inter" pitchFamily="34" charset="-120"/>
              </a:rPr>
              <a:t>Proposed growth plan | NxtWave Growth Intern Challenge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1B3F"/>
                </a:solidFill>
                <a:latin typeface="Inter" pitchFamily="34" charset="0"/>
                <a:ea typeface="Inter" pitchFamily="34" charset="-122"/>
                <a:cs typeface="Inter" pitchFamily="34" charset="-120"/>
              </a:rPr>
              <a:t>Launch. Measure. Optimise.</a:t>
            </a:r>
            <a:endParaRPr lang="en-US" sz="3200" dirty="0"/>
          </a:p>
        </p:txBody>
      </p:sp>
      <p:sp>
        <p:nvSpPr>
          <p:cNvPr id="3" name="Shape 1"/>
          <p:cNvSpPr/>
          <p:nvPr/>
        </p:nvSpPr>
        <p:spPr>
          <a:xfrm>
            <a:off x="812800" y="1330961"/>
            <a:ext cx="2527300" cy="2326640"/>
          </a:xfrm>
          <a:prstGeom prst="roundRect">
            <a:avLst>
              <a:gd name="adj" fmla="val 4367"/>
            </a:avLst>
          </a:prstGeom>
          <a:solidFill>
            <a:srgbClr val="EEF3FF"/>
          </a:solidFill>
          <a:ln/>
        </p:spPr>
      </p:sp>
      <p:sp>
        <p:nvSpPr>
          <p:cNvPr id="4" name="Text 2"/>
          <p:cNvSpPr/>
          <p:nvPr/>
        </p:nvSpPr>
        <p:spPr>
          <a:xfrm>
            <a:off x="1016000" y="1534161"/>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BFF"/>
                </a:solidFill>
                <a:latin typeface="Inter" pitchFamily="34" charset="0"/>
                <a:ea typeface="Inter" pitchFamily="34" charset="-122"/>
                <a:cs typeface="Inter" pitchFamily="34" charset="-120"/>
              </a:rPr>
              <a:t>Days 1–2: Prepare</a:t>
            </a:r>
            <a:endParaRPr lang="en-US" sz="1500" dirty="0"/>
          </a:p>
        </p:txBody>
      </p:sp>
      <p:sp>
        <p:nvSpPr>
          <p:cNvPr id="5" name="Text 3"/>
          <p:cNvSpPr/>
          <p:nvPr/>
        </p:nvSpPr>
        <p:spPr>
          <a:xfrm>
            <a:off x="1016000" y="1838961"/>
            <a:ext cx="218452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Identify 15 colleges</a:t>
            </a:r>
            <a:endParaRPr lang="en-US" sz="1300" dirty="0"/>
          </a:p>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Recruit 30 ambassadors</a:t>
            </a:r>
            <a:endParaRPr lang="en-US" sz="1300" dirty="0"/>
          </a:p>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Prepare referral links and assets</a:t>
            </a:r>
            <a:endParaRPr lang="en-US" sz="1300" dirty="0"/>
          </a:p>
        </p:txBody>
      </p:sp>
      <p:sp>
        <p:nvSpPr>
          <p:cNvPr id="6" name="Shape 4"/>
          <p:cNvSpPr/>
          <p:nvPr/>
        </p:nvSpPr>
        <p:spPr>
          <a:xfrm>
            <a:off x="3492500" y="1330961"/>
            <a:ext cx="2527300" cy="2326640"/>
          </a:xfrm>
          <a:prstGeom prst="roundRect">
            <a:avLst>
              <a:gd name="adj" fmla="val 4367"/>
            </a:avLst>
          </a:prstGeom>
          <a:solidFill>
            <a:srgbClr val="EEF3FF"/>
          </a:solidFill>
          <a:ln/>
        </p:spPr>
      </p:sp>
      <p:sp>
        <p:nvSpPr>
          <p:cNvPr id="7" name="Text 5"/>
          <p:cNvSpPr/>
          <p:nvPr/>
        </p:nvSpPr>
        <p:spPr>
          <a:xfrm>
            <a:off x="3695700" y="1534161"/>
            <a:ext cx="2184527"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BFF"/>
                </a:solidFill>
                <a:latin typeface="Inter" pitchFamily="34" charset="0"/>
                <a:ea typeface="Inter" pitchFamily="34" charset="-122"/>
                <a:cs typeface="Inter" pitchFamily="34" charset="-120"/>
              </a:rPr>
              <a:t>Days 3–4: Launch and test</a:t>
            </a:r>
            <a:endParaRPr lang="en-US" sz="1500" dirty="0"/>
          </a:p>
        </p:txBody>
      </p:sp>
      <p:sp>
        <p:nvSpPr>
          <p:cNvPr id="8" name="Text 6"/>
          <p:cNvSpPr/>
          <p:nvPr/>
        </p:nvSpPr>
        <p:spPr>
          <a:xfrm>
            <a:off x="3695700" y="2067561"/>
            <a:ext cx="2184527" cy="14122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Activate student communities</a:t>
            </a:r>
            <a:endParaRPr lang="en-US" sz="1300" dirty="0"/>
          </a:p>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Test two workshop messages</a:t>
            </a:r>
            <a:endParaRPr lang="en-US" sz="1300" dirty="0"/>
          </a:p>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Measure referral performance</a:t>
            </a:r>
            <a:endParaRPr lang="en-US" sz="1300" dirty="0"/>
          </a:p>
        </p:txBody>
      </p:sp>
      <p:sp>
        <p:nvSpPr>
          <p:cNvPr id="9" name="Shape 7"/>
          <p:cNvSpPr/>
          <p:nvPr/>
        </p:nvSpPr>
        <p:spPr>
          <a:xfrm>
            <a:off x="6172200" y="1330961"/>
            <a:ext cx="2527300" cy="2326640"/>
          </a:xfrm>
          <a:prstGeom prst="roundRect">
            <a:avLst>
              <a:gd name="adj" fmla="val 4367"/>
            </a:avLst>
          </a:prstGeom>
          <a:solidFill>
            <a:srgbClr val="EEF3FF"/>
          </a:solidFill>
          <a:ln/>
        </p:spPr>
      </p:sp>
      <p:sp>
        <p:nvSpPr>
          <p:cNvPr id="10" name="Text 8"/>
          <p:cNvSpPr/>
          <p:nvPr/>
        </p:nvSpPr>
        <p:spPr>
          <a:xfrm>
            <a:off x="6375400" y="1534161"/>
            <a:ext cx="218452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BFF"/>
                </a:solidFill>
                <a:latin typeface="Inter" pitchFamily="34" charset="0"/>
                <a:ea typeface="Inter" pitchFamily="34" charset="-122"/>
                <a:cs typeface="Inter" pitchFamily="34" charset="-120"/>
              </a:rPr>
              <a:t>Days 5–6: Optimise</a:t>
            </a:r>
            <a:endParaRPr lang="en-US" sz="1500" dirty="0"/>
          </a:p>
        </p:txBody>
      </p:sp>
      <p:sp>
        <p:nvSpPr>
          <p:cNvPr id="11" name="Text 9"/>
          <p:cNvSpPr/>
          <p:nvPr/>
        </p:nvSpPr>
        <p:spPr>
          <a:xfrm>
            <a:off x="6375400" y="1838961"/>
            <a:ext cx="2184527" cy="1181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Activate relevant creators</a:t>
            </a:r>
            <a:endParaRPr lang="en-US" sz="1300" dirty="0"/>
          </a:p>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Follow up with interested students</a:t>
            </a:r>
            <a:endParaRPr lang="en-US" sz="1300" dirty="0"/>
          </a:p>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Focus on underperforming colleges</a:t>
            </a:r>
            <a:endParaRPr lang="en-US" sz="1300" dirty="0"/>
          </a:p>
        </p:txBody>
      </p:sp>
      <p:sp>
        <p:nvSpPr>
          <p:cNvPr id="12" name="Shape 10"/>
          <p:cNvSpPr/>
          <p:nvPr/>
        </p:nvSpPr>
        <p:spPr>
          <a:xfrm>
            <a:off x="8851900" y="1330961"/>
            <a:ext cx="2527300" cy="2326640"/>
          </a:xfrm>
          <a:prstGeom prst="roundRect">
            <a:avLst>
              <a:gd name="adj" fmla="val 4367"/>
            </a:avLst>
          </a:prstGeom>
          <a:solidFill>
            <a:srgbClr val="EEF3FF"/>
          </a:solidFill>
          <a:ln/>
        </p:spPr>
      </p:sp>
      <p:sp>
        <p:nvSpPr>
          <p:cNvPr id="13" name="Text 11"/>
          <p:cNvSpPr/>
          <p:nvPr/>
        </p:nvSpPr>
        <p:spPr>
          <a:xfrm>
            <a:off x="9055100" y="1534161"/>
            <a:ext cx="2184527"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5BFF"/>
                </a:solidFill>
                <a:latin typeface="Inter" pitchFamily="34" charset="0"/>
                <a:ea typeface="Inter" pitchFamily="34" charset="-122"/>
                <a:cs typeface="Inter" pitchFamily="34" charset="-120"/>
              </a:rPr>
              <a:t>Day 7: Close and evaluate</a:t>
            </a:r>
            <a:endParaRPr lang="en-US" sz="1500" dirty="0"/>
          </a:p>
        </p:txBody>
      </p:sp>
      <p:sp>
        <p:nvSpPr>
          <p:cNvPr id="14" name="Text 12"/>
          <p:cNvSpPr/>
          <p:nvPr/>
        </p:nvSpPr>
        <p:spPr>
          <a:xfrm>
            <a:off x="9055100" y="2067561"/>
            <a:ext cx="218452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Final approved reminders</a:t>
            </a:r>
            <a:endParaRPr lang="en-US" sz="1300" dirty="0"/>
          </a:p>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Verify unique registrations</a:t>
            </a:r>
            <a:endParaRPr lang="en-US" sz="1300" dirty="0"/>
          </a:p>
          <a:p>
            <a:pPr algn="l" indent="0" marL="0">
              <a:lnSpc>
                <a:spcPts val="1820"/>
              </a:lnSpc>
              <a:buNone/>
            </a:pPr>
            <a:r>
              <a:rPr lang="en-US" sz="1300" dirty="0">
                <a:solidFill>
                  <a:srgbClr val="0B1B3F"/>
                </a:solidFill>
                <a:latin typeface="Inter" pitchFamily="34" charset="0"/>
                <a:ea typeface="Inter" pitchFamily="34" charset="-122"/>
                <a:cs typeface="Inter" pitchFamily="34" charset="-120"/>
              </a:rPr>
              <a:t>Compare against the 500 target</a:t>
            </a:r>
            <a:endParaRPr lang="en-US" sz="1300" dirty="0"/>
          </a:p>
        </p:txBody>
      </p:sp>
      <p:sp>
        <p:nvSpPr>
          <p:cNvPr id="15" name="Text 13"/>
          <p:cNvSpPr/>
          <p:nvPr/>
        </p:nvSpPr>
        <p:spPr>
          <a:xfrm>
            <a:off x="812800" y="39116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1B3F"/>
                </a:solidFill>
                <a:latin typeface="Inter" pitchFamily="34" charset="0"/>
                <a:ea typeface="Inter" pitchFamily="34" charset="-122"/>
                <a:cs typeface="Inter" pitchFamily="34" charset="-120"/>
              </a:rPr>
              <a:t>Proposed budget allocation, subject to approval</a:t>
            </a:r>
            <a:endParaRPr lang="en-US" sz="1300" dirty="0"/>
          </a:p>
        </p:txBody>
      </p:sp>
      <p:sp>
        <p:nvSpPr>
          <p:cNvPr id="16" name="Text 14"/>
          <p:cNvSpPr/>
          <p:nvPr/>
        </p:nvSpPr>
        <p:spPr>
          <a:xfrm>
            <a:off x="812800" y="4218939"/>
            <a:ext cx="6075680" cy="485140"/>
          </a:xfrm>
          <a:prstGeom prst="roundRect">
            <a:avLst>
              <a:gd name="adj" fmla="val 15707"/>
            </a:avLst>
          </a:prstGeom>
          <a:solidFill>
            <a:srgbClr val="1F5BFF"/>
          </a:solidFill>
          <a:ln/>
        </p:spPr>
        <p:txBody>
          <a:bodyPr wrap="square" lIns="104682" tIns="104682" rIns="0" bIns="79282"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ambassador rewards</a:t>
            </a:r>
            <a:endParaRPr lang="en-US" sz="1300" dirty="0"/>
          </a:p>
        </p:txBody>
      </p:sp>
      <p:sp>
        <p:nvSpPr>
          <p:cNvPr id="17" name="Text 15"/>
          <p:cNvSpPr/>
          <p:nvPr/>
        </p:nvSpPr>
        <p:spPr>
          <a:xfrm>
            <a:off x="6939280" y="4218939"/>
            <a:ext cx="2679700" cy="485140"/>
          </a:xfrm>
          <a:prstGeom prst="roundRect">
            <a:avLst>
              <a:gd name="adj" fmla="val 15707"/>
            </a:avLst>
          </a:prstGeom>
          <a:solidFill>
            <a:srgbClr val="0B1B3F"/>
          </a:solidFill>
          <a:ln/>
        </p:spPr>
        <p:txBody>
          <a:bodyPr wrap="square" lIns="104682" tIns="104682" rIns="31911" bIns="79282"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promo support</a:t>
            </a:r>
            <a:endParaRPr lang="en-US" sz="1300" dirty="0"/>
          </a:p>
        </p:txBody>
      </p:sp>
      <p:sp>
        <p:nvSpPr>
          <p:cNvPr id="18" name="Text 16"/>
          <p:cNvSpPr/>
          <p:nvPr/>
        </p:nvSpPr>
        <p:spPr>
          <a:xfrm>
            <a:off x="9669780" y="4218939"/>
            <a:ext cx="1709420" cy="485140"/>
          </a:xfrm>
          <a:prstGeom prst="roundRect">
            <a:avLst>
              <a:gd name="adj" fmla="val 15707"/>
            </a:avLst>
          </a:prstGeom>
          <a:solidFill>
            <a:srgbClr val="5B6785"/>
          </a:solidFill>
          <a:ln/>
        </p:spPr>
        <p:txBody>
          <a:bodyPr wrap="square" lIns="104682" tIns="104682" rIns="53882" bIns="79282"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contingency</a:t>
            </a:r>
            <a:endParaRPr lang="en-US" sz="1300" dirty="0"/>
          </a:p>
        </p:txBody>
      </p:sp>
      <p:sp>
        <p:nvSpPr>
          <p:cNvPr id="19" name="Text 17"/>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85"/>
                </a:solidFill>
                <a:latin typeface="Inter" pitchFamily="34" charset="0"/>
                <a:ea typeface="Inter" pitchFamily="34" charset="-122"/>
                <a:cs typeface="Inter" pitchFamily="34" charset="-120"/>
              </a:rPr>
              <a:t>Proposed growth plan | NxtWave Growth Intern Challenge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B1B3F"/>
                </a:solidFill>
                <a:latin typeface="Inter" pitchFamily="34" charset="0"/>
                <a:ea typeface="Inter" pitchFamily="34" charset="-122"/>
                <a:cs typeface="Inter" pitchFamily="34" charset="-120"/>
              </a:rPr>
              <a:t>Growth Is a System, Not a Guess</a:t>
            </a:r>
            <a:endParaRPr lang="en-US" sz="3200" dirty="0"/>
          </a:p>
        </p:txBody>
      </p:sp>
      <p:sp>
        <p:nvSpPr>
          <p:cNvPr id="3" name="Shape 1"/>
          <p:cNvSpPr/>
          <p:nvPr/>
        </p:nvSpPr>
        <p:spPr>
          <a:xfrm>
            <a:off x="819150" y="1337311"/>
            <a:ext cx="5382260" cy="2301240"/>
          </a:xfrm>
          <a:prstGeom prst="roundRect">
            <a:avLst>
              <a:gd name="adj" fmla="val 4139"/>
            </a:avLst>
          </a:prstGeom>
          <a:solidFill>
            <a:srgbClr val="FFFFFF"/>
          </a:solidFill>
          <a:ln w="12700">
            <a:solidFill>
              <a:srgbClr val="C9D6F5"/>
            </a:solidFill>
            <a:prstDash val="solid"/>
          </a:ln>
        </p:spPr>
      </p:sp>
      <p:sp>
        <p:nvSpPr>
          <p:cNvPr id="4" name="Text 2"/>
          <p:cNvSpPr/>
          <p:nvPr/>
        </p:nvSpPr>
        <p:spPr>
          <a:xfrm>
            <a:off x="1026160" y="1544321"/>
            <a:ext cx="511728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BFF"/>
                </a:solidFill>
                <a:latin typeface="Inter" pitchFamily="34" charset="0"/>
                <a:ea typeface="Inter" pitchFamily="34" charset="-122"/>
                <a:cs typeface="Inter" pitchFamily="34" charset="-120"/>
              </a:rPr>
              <a:t>CAMPUS GROWTH TRACKER (MOCK-UP, TARGETS ONLY)</a:t>
            </a:r>
            <a:endParaRPr lang="en-US" sz="1200" dirty="0"/>
          </a:p>
        </p:txBody>
      </p:sp>
      <p:sp>
        <p:nvSpPr>
          <p:cNvPr id="5" name="Text 3"/>
          <p:cNvSpPr/>
          <p:nvPr/>
        </p:nvSpPr>
        <p:spPr>
          <a:xfrm>
            <a:off x="1026160" y="1859279"/>
            <a:ext cx="511728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B3F"/>
                </a:solidFill>
                <a:latin typeface="Inter" pitchFamily="34" charset="0"/>
                <a:ea typeface="Inter" pitchFamily="34" charset="-122"/>
                <a:cs typeface="Inter" pitchFamily="34" charset="-120"/>
              </a:rPr>
              <a:t>Unique registrations:</a:t>
            </a:r>
            <a:r>
              <a:rPr lang="en-US" sz="1500" dirty="0">
                <a:solidFill>
                  <a:srgbClr val="0B1B3F"/>
                </a:solidFill>
                <a:latin typeface="Inter" pitchFamily="34" charset="0"/>
                <a:ea typeface="Inter" pitchFamily="34" charset="-122"/>
                <a:cs typeface="Inter" pitchFamily="34" charset="-120"/>
              </a:rPr>
              <a:t> 0 of 500 target</a:t>
            </a:r>
            <a:endParaRPr lang="en-US" sz="1500" dirty="0"/>
          </a:p>
        </p:txBody>
      </p:sp>
      <p:sp>
        <p:nvSpPr>
          <p:cNvPr id="6" name="Shape 4"/>
          <p:cNvSpPr/>
          <p:nvPr/>
        </p:nvSpPr>
        <p:spPr>
          <a:xfrm>
            <a:off x="1026160" y="2227579"/>
            <a:ext cx="4968240" cy="152400"/>
          </a:xfrm>
          <a:prstGeom prst="roundRect">
            <a:avLst>
              <a:gd name="adj" fmla="val 50000"/>
            </a:avLst>
          </a:prstGeom>
          <a:solidFill>
            <a:srgbClr val="EEF3FF"/>
          </a:solidFill>
          <a:ln/>
        </p:spPr>
      </p:sp>
      <p:sp>
        <p:nvSpPr>
          <p:cNvPr id="7" name="Text 5"/>
          <p:cNvSpPr/>
          <p:nvPr/>
        </p:nvSpPr>
        <p:spPr>
          <a:xfrm>
            <a:off x="1026160" y="2481579"/>
            <a:ext cx="511728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B3F"/>
                </a:solidFill>
                <a:latin typeface="Inter" pitchFamily="34" charset="0"/>
                <a:ea typeface="Inter" pitchFamily="34" charset="-122"/>
                <a:cs typeface="Inter" pitchFamily="34" charset="-120"/>
              </a:rPr>
              <a:t>Registrations by college (15)</a:t>
            </a:r>
            <a:endParaRPr lang="en-US" sz="1400" dirty="0"/>
          </a:p>
        </p:txBody>
      </p:sp>
      <p:sp>
        <p:nvSpPr>
          <p:cNvPr id="8" name="Text 6"/>
          <p:cNvSpPr/>
          <p:nvPr/>
        </p:nvSpPr>
        <p:spPr>
          <a:xfrm>
            <a:off x="1026160" y="2832100"/>
            <a:ext cx="511728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B3F"/>
                </a:solidFill>
                <a:latin typeface="Inter" pitchFamily="34" charset="0"/>
                <a:ea typeface="Inter" pitchFamily="34" charset="-122"/>
                <a:cs typeface="Inter" pitchFamily="34" charset="-120"/>
              </a:rPr>
              <a:t>Ambassador leaderboard (30)</a:t>
            </a:r>
            <a:endParaRPr lang="en-US" sz="1400" dirty="0"/>
          </a:p>
        </p:txBody>
      </p:sp>
      <p:sp>
        <p:nvSpPr>
          <p:cNvPr id="9" name="Text 7"/>
          <p:cNvSpPr/>
          <p:nvPr/>
        </p:nvSpPr>
        <p:spPr>
          <a:xfrm>
            <a:off x="1026160" y="3182621"/>
            <a:ext cx="511728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B3F"/>
                </a:solidFill>
                <a:latin typeface="Inter" pitchFamily="34" charset="0"/>
                <a:ea typeface="Inter" pitchFamily="34" charset="-122"/>
                <a:cs typeface="Inter" pitchFamily="34" charset="-120"/>
              </a:rPr>
              <a:t>Referral-source performance (3 channels)</a:t>
            </a:r>
            <a:endParaRPr lang="en-US" sz="1400" dirty="0"/>
          </a:p>
        </p:txBody>
      </p:sp>
      <p:sp>
        <p:nvSpPr>
          <p:cNvPr id="10" name="Text 8"/>
          <p:cNvSpPr/>
          <p:nvPr/>
        </p:nvSpPr>
        <p:spPr>
          <a:xfrm>
            <a:off x="6410960" y="1330961"/>
            <a:ext cx="511728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F"/>
                </a:solidFill>
                <a:latin typeface="Inter" pitchFamily="34" charset="0"/>
                <a:ea typeface="Inter" pitchFamily="34" charset="-122"/>
                <a:cs typeface="Inter" pitchFamily="34" charset="-120"/>
              </a:rPr>
              <a:t>Three experiments</a:t>
            </a:r>
            <a:endParaRPr lang="en-US" sz="1600" dirty="0"/>
          </a:p>
        </p:txBody>
      </p:sp>
      <p:sp>
        <p:nvSpPr>
          <p:cNvPr id="11" name="Text 9"/>
          <p:cNvSpPr/>
          <p:nvPr/>
        </p:nvSpPr>
        <p:spPr>
          <a:xfrm>
            <a:off x="6410960" y="1701800"/>
            <a:ext cx="511728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B3F"/>
                </a:solidFill>
                <a:latin typeface="Inter" pitchFamily="34" charset="0"/>
                <a:ea typeface="Inter" pitchFamily="34" charset="-122"/>
                <a:cs typeface="Inter" pitchFamily="34" charset="-120"/>
              </a:rPr>
              <a:t>1. Ambassador referrals:</a:t>
            </a:r>
            <a:r>
              <a:rPr lang="en-US" sz="1400" dirty="0">
                <a:solidFill>
                  <a:srgbClr val="0B1B3F"/>
                </a:solidFill>
                <a:latin typeface="Inter" pitchFamily="34" charset="0"/>
                <a:ea typeface="Inter" pitchFamily="34" charset="-122"/>
                <a:cs typeface="Inter" pitchFamily="34" charset="-120"/>
              </a:rPr>
              <a:t> registrations per ambassador</a:t>
            </a:r>
            <a:endParaRPr lang="en-US" sz="1400" dirty="0"/>
          </a:p>
        </p:txBody>
      </p:sp>
      <p:sp>
        <p:nvSpPr>
          <p:cNvPr id="12" name="Text 10"/>
          <p:cNvSpPr/>
          <p:nvPr/>
        </p:nvSpPr>
        <p:spPr>
          <a:xfrm>
            <a:off x="6410960" y="2077721"/>
            <a:ext cx="511728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B3F"/>
                </a:solidFill>
                <a:latin typeface="Inter" pitchFamily="34" charset="0"/>
                <a:ea typeface="Inter" pitchFamily="34" charset="-122"/>
                <a:cs typeface="Inter" pitchFamily="34" charset="-120"/>
              </a:rPr>
              <a:t>2. Message A vs. B:</a:t>
            </a:r>
            <a:r>
              <a:rPr lang="en-US" sz="1400" dirty="0">
                <a:solidFill>
                  <a:srgbClr val="0B1B3F"/>
                </a:solidFill>
                <a:latin typeface="Inter" pitchFamily="34" charset="0"/>
                <a:ea typeface="Inter" pitchFamily="34" charset="-122"/>
                <a:cs typeface="Inter" pitchFamily="34" charset="-120"/>
              </a:rPr>
              <a:t> click-to-registration rate</a:t>
            </a:r>
            <a:endParaRPr lang="en-US" sz="1400" dirty="0"/>
          </a:p>
        </p:txBody>
      </p:sp>
      <p:sp>
        <p:nvSpPr>
          <p:cNvPr id="13" name="Text 11"/>
          <p:cNvSpPr/>
          <p:nvPr/>
        </p:nvSpPr>
        <p:spPr>
          <a:xfrm>
            <a:off x="6410960" y="2453639"/>
            <a:ext cx="5117287"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B3F"/>
                </a:solidFill>
                <a:latin typeface="Inter" pitchFamily="34" charset="0"/>
                <a:ea typeface="Inter" pitchFamily="34" charset="-122"/>
                <a:cs typeface="Inter" pitchFamily="34" charset="-120"/>
              </a:rPr>
              <a:t>3. Reminder vs. none:</a:t>
            </a:r>
            <a:r>
              <a:rPr lang="en-US" sz="1400" dirty="0">
                <a:solidFill>
                  <a:srgbClr val="0B1B3F"/>
                </a:solidFill>
                <a:latin typeface="Inter" pitchFamily="34" charset="0"/>
                <a:ea typeface="Inter" pitchFamily="34" charset="-122"/>
                <a:cs typeface="Inter" pitchFamily="34" charset="-120"/>
              </a:rPr>
              <a:t> incremental registrations and opt-out rate</a:t>
            </a:r>
            <a:endParaRPr lang="en-US" sz="1400" dirty="0"/>
          </a:p>
        </p:txBody>
      </p:sp>
      <p:sp>
        <p:nvSpPr>
          <p:cNvPr id="14" name="Text 12"/>
          <p:cNvSpPr/>
          <p:nvPr/>
        </p:nvSpPr>
        <p:spPr>
          <a:xfrm>
            <a:off x="812800" y="38989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F5BFF"/>
                </a:solidFill>
                <a:latin typeface="Inter" pitchFamily="34" charset="0"/>
                <a:ea typeface="Inter" pitchFamily="34" charset="-122"/>
                <a:cs typeface="Inter" pitchFamily="34" charset="-120"/>
              </a:rPr>
              <a:t>Track every source. Test every assumption. Scale what converts.</a:t>
            </a:r>
            <a:endParaRPr lang="en-US" sz="2000" dirty="0"/>
          </a:p>
        </p:txBody>
      </p:sp>
      <p:sp>
        <p:nvSpPr>
          <p:cNvPr id="15" name="Text 13"/>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85"/>
                </a:solidFill>
                <a:latin typeface="Inter" pitchFamily="34" charset="0"/>
                <a:ea typeface="Inter" pitchFamily="34" charset="-122"/>
                <a:cs typeface="Inter" pitchFamily="34" charset="-120"/>
              </a:rPr>
              <a:t>Proposed growth plan | NxtWave Growth Intern Challenge</a:t>
            </a:r>
            <a:endParaRPr lang="en-US" sz="1200" dirty="0"/>
          </a:p>
        </p:txBody>
      </p:sp>
    </p:spTree>
  </p:cSld>
  <p:clrMapOvr>
    <a:masterClrMapping/>
  </p:clrMapOvr>
</p:sld>
</file>

<file path=ppt/theme/theme1.xml><?xml version="1.0" encoding="utf-8"?>
<a:theme xmlns:a="http://schemas.openxmlformats.org/drawingml/2006/main" name="NxtWave Campus Growth Engine">
  <a:themeElements>
    <a:clrScheme name="NxtWave Campus Growth Engine">
      <a:dk1>
        <a:srgbClr val="0B1B3F"/>
      </a:dk1>
      <a:lt1>
        <a:srgbClr val="FAFBFF"/>
      </a:lt1>
      <a:dk2>
        <a:srgbClr val="47536F"/>
      </a:dk2>
      <a:lt2>
        <a:srgbClr val="E2E5EC"/>
      </a:lt2>
      <a:accent1>
        <a:srgbClr val="1F5BFF"/>
      </a:accent1>
      <a:accent2>
        <a:srgbClr val="5B6785"/>
      </a:accent2>
      <a:accent3>
        <a:srgbClr val="8FB0FF"/>
      </a:accent3>
      <a:accent4>
        <a:srgbClr val="9AA0A6"/>
      </a:accent4>
      <a:accent5>
        <a:srgbClr val="6B758C"/>
      </a:accent5>
      <a:accent6>
        <a:srgbClr val="8E96A9"/>
      </a:accent6>
      <a:hlink>
        <a:srgbClr val="0563C1"/>
      </a:hlink>
      <a:folHlink>
        <a:srgbClr val="954F72"/>
      </a:folHlink>
    </a:clrScheme>
    <a:fontScheme name="NxtWave Campus Growth Engin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NxtWave Campus Growth Engine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2026-10-28T14:42:21Z</dcterms:created>
  <dcterms:modified xsi:type="dcterms:W3CDTF">2026-10-28T14:42:21Z</dcterms:modified>
</cp:coreProperties>
</file>